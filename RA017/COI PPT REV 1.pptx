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60" r:id="rId7"/>
    <p:sldId id="258" r:id="rId8"/>
    <p:sldId id="261" r:id="rId9"/>
    <p:sldId id="283" r:id="rId10"/>
    <p:sldId id="264" r:id="rId11"/>
    <p:sldId id="266" r:id="rId12"/>
    <p:sldId id="284" r:id="rId13"/>
    <p:sldId id="269" r:id="rId14"/>
    <p:sldId id="268" r:id="rId15"/>
    <p:sldId id="28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2/19/2026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o.microsoft.com/fwlink/?linkid=2006808&amp;clcid=0x409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2595" y="466493"/>
            <a:ext cx="10764253" cy="1243584"/>
          </a:xfrm>
        </p:spPr>
        <p:txBody>
          <a:bodyPr/>
          <a:lstStyle/>
          <a:p>
            <a:r>
              <a:rPr lang="en-US" sz="3600" dirty="0" err="1">
                <a:solidFill>
                  <a:schemeClr val="bg1"/>
                </a:solidFill>
              </a:rPr>
              <a:t>Constituitional</a:t>
            </a:r>
            <a:r>
              <a:rPr lang="en-US" sz="3600" dirty="0">
                <a:solidFill>
                  <a:schemeClr val="bg1"/>
                </a:solidFill>
              </a:rPr>
              <a:t> reforms – The Laxmi Acid Attack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2595" y="3047683"/>
            <a:ext cx="7077456" cy="29679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Netra V – RA2511026011046</a:t>
            </a:r>
          </a:p>
          <a:p>
            <a:r>
              <a:rPr lang="en-US" dirty="0"/>
              <a:t>Harshitha G – RA2511026011017</a:t>
            </a:r>
          </a:p>
          <a:p>
            <a:pPr marL="0" indent="0">
              <a:buNone/>
            </a:pPr>
            <a:r>
              <a:rPr lang="en-US" dirty="0"/>
              <a:t>Eshan K </a:t>
            </a:r>
            <a:r>
              <a:rPr lang="en-US" dirty="0" err="1"/>
              <a:t>Tharik</a:t>
            </a:r>
            <a:r>
              <a:rPr lang="en-US" dirty="0"/>
              <a:t> – RA2511026011044</a:t>
            </a:r>
          </a:p>
          <a:p>
            <a:r>
              <a:rPr lang="en-US" dirty="0"/>
              <a:t>Siraj EK – RA2511026011043</a:t>
            </a:r>
          </a:p>
          <a:p>
            <a:r>
              <a:rPr lang="en-US" dirty="0"/>
              <a:t>Manobala – RA2511026011047</a:t>
            </a:r>
          </a:p>
          <a:p>
            <a:r>
              <a:rPr lang="en-US" dirty="0"/>
              <a:t>Harsh Sharma – RA2511026011085</a:t>
            </a:r>
          </a:p>
          <a:p>
            <a:r>
              <a:rPr lang="en-US" dirty="0"/>
              <a:t>Soumyadip Manna – RA2511026011049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BFDCE2-5932-AAA5-7967-8062AD846719}"/>
              </a:ext>
            </a:extLst>
          </p:cNvPr>
          <p:cNvSpPr txBox="1"/>
          <p:nvPr/>
        </p:nvSpPr>
        <p:spPr>
          <a:xfrm>
            <a:off x="1212595" y="2447363"/>
            <a:ext cx="779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: CONSTITUITIONAL KNIGHTS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9FFD0A-DCD8-8F7A-5EC2-AE848C230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2764" y="2447363"/>
            <a:ext cx="4169263" cy="296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935" y="2891117"/>
            <a:ext cx="11524130" cy="3966883"/>
          </a:xfrm>
        </p:spPr>
        <p:txBody>
          <a:bodyPr>
            <a:normAutofit fontScale="90000"/>
          </a:bodyPr>
          <a:lstStyle/>
          <a:p>
            <a:br>
              <a:rPr lang="en-US" sz="3200" dirty="0"/>
            </a:br>
            <a:r>
              <a:rPr lang="en-US" sz="3200" dirty="0"/>
              <a:t>INTRODUCTION:</a:t>
            </a:r>
            <a:br>
              <a:rPr lang="en-US" sz="2700" dirty="0"/>
            </a:br>
            <a:br>
              <a:rPr lang="en-US" sz="2700" dirty="0"/>
            </a:br>
            <a:br>
              <a:rPr lang="en-US" sz="2700" dirty="0"/>
            </a:br>
            <a:r>
              <a:rPr lang="en-US" sz="2700" dirty="0"/>
              <a:t>• </a:t>
            </a:r>
            <a:r>
              <a:rPr lang="en-US" sz="2700" b="0" dirty="0">
                <a:latin typeface="+mn-lt"/>
              </a:rPr>
              <a:t>Acid attacks are one of the most violent forms of gender-based crimes.</a:t>
            </a:r>
            <a:br>
              <a:rPr lang="en-US" sz="2700" b="0" dirty="0">
                <a:latin typeface="+mn-lt"/>
              </a:rPr>
            </a:br>
            <a:br>
              <a:rPr lang="en-US" sz="2700" b="0" dirty="0">
                <a:latin typeface="+mn-lt"/>
              </a:rPr>
            </a:br>
            <a:r>
              <a:rPr lang="en-US" sz="2700" b="0" dirty="0">
                <a:latin typeface="+mn-lt"/>
              </a:rPr>
              <a:t>• They cause permanent physical, emotional, and psychological trauma.</a:t>
            </a:r>
            <a:br>
              <a:rPr lang="en-US" sz="2700" b="0" dirty="0">
                <a:latin typeface="+mn-lt"/>
              </a:rPr>
            </a:br>
            <a:br>
              <a:rPr lang="en-US" sz="2700" b="0" dirty="0">
                <a:latin typeface="+mn-lt"/>
              </a:rPr>
            </a:br>
            <a:r>
              <a:rPr lang="en-US" sz="2700" b="0" dirty="0">
                <a:latin typeface="+mn-lt"/>
              </a:rPr>
              <a:t>• Before 2013, there was no separate law specifically for acid attacks.</a:t>
            </a:r>
            <a:br>
              <a:rPr lang="en-US" sz="2700" b="0" dirty="0">
                <a:latin typeface="+mn-lt"/>
              </a:rPr>
            </a:br>
            <a:br>
              <a:rPr lang="en-US" sz="2700" b="0" dirty="0">
                <a:latin typeface="+mn-lt"/>
              </a:rPr>
            </a:br>
            <a:r>
              <a:rPr lang="en-US" sz="2700" b="0" dirty="0">
                <a:latin typeface="+mn-lt"/>
              </a:rPr>
              <a:t>• Victims struggled to receive proper compensation and justice.</a:t>
            </a:r>
            <a:br>
              <a:rPr lang="en-US" sz="2700" b="0" dirty="0">
                <a:latin typeface="+mn-lt"/>
              </a:rPr>
            </a:br>
            <a:br>
              <a:rPr lang="en-US" sz="2700" b="0" dirty="0">
                <a:latin typeface="+mn-lt"/>
              </a:rPr>
            </a:br>
            <a:r>
              <a:rPr lang="en-US" sz="2700" b="0" dirty="0">
                <a:latin typeface="+mn-lt"/>
              </a:rPr>
              <a:t>• Easy availability of acid increased such crimes.</a:t>
            </a:r>
            <a:br>
              <a:rPr lang="en-US" sz="2700" b="0" dirty="0">
                <a:latin typeface="+mn-lt"/>
              </a:rPr>
            </a:br>
            <a:br>
              <a:rPr lang="en-US" sz="2700" b="0" dirty="0">
                <a:latin typeface="+mn-lt"/>
              </a:rPr>
            </a:br>
            <a:r>
              <a:rPr lang="en-US" sz="2700" b="0" dirty="0">
                <a:latin typeface="+mn-lt"/>
              </a:rPr>
              <a:t>• Legal loopholes weakened prosecution efforts.</a:t>
            </a:r>
            <a:br>
              <a:rPr lang="en-US" sz="2700" b="0" dirty="0">
                <a:latin typeface="+mn-lt"/>
              </a:rPr>
            </a:br>
            <a:br>
              <a:rPr lang="en-US" sz="2700" b="0" dirty="0">
                <a:latin typeface="+mn-lt"/>
              </a:rPr>
            </a:br>
            <a:r>
              <a:rPr lang="en-US" sz="2700" b="0" dirty="0">
                <a:latin typeface="+mn-lt"/>
              </a:rPr>
              <a:t>• Public outrage demanded stricter legal reforms.</a:t>
            </a:r>
            <a:br>
              <a:rPr lang="en-US" sz="2700" b="0" dirty="0">
                <a:latin typeface="+mn-lt"/>
              </a:rPr>
            </a:br>
            <a:br>
              <a:rPr lang="en-US" sz="2700" b="0" dirty="0">
                <a:latin typeface="+mn-lt"/>
              </a:rPr>
            </a:br>
            <a:r>
              <a:rPr lang="en-US" sz="2700" b="0" dirty="0">
                <a:latin typeface="+mn-lt"/>
              </a:rPr>
              <a:t>• This case became a turning point in Indian criminal law.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2" y="5885547"/>
            <a:ext cx="11359896" cy="859055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BACKGROUND OF THE INCIDENT:</a:t>
            </a:r>
            <a:br>
              <a:rPr lang="en-US" sz="3200" dirty="0"/>
            </a:br>
            <a:br>
              <a:rPr lang="en-US" sz="3200" dirty="0"/>
            </a:br>
            <a:r>
              <a:rPr lang="en-US" sz="2700" dirty="0"/>
              <a:t>• </a:t>
            </a:r>
            <a:r>
              <a:rPr lang="en-US" sz="2700" b="0" dirty="0">
                <a:latin typeface="+mn-lt"/>
              </a:rPr>
              <a:t>In 2005, Laxmi, aged 15, was attacked with acid in Delhi.</a:t>
            </a:r>
            <a:br>
              <a:rPr lang="en-US" sz="2700" b="0" dirty="0">
                <a:latin typeface="+mn-lt"/>
              </a:rPr>
            </a:br>
            <a:br>
              <a:rPr lang="en-US" sz="2700" b="0" dirty="0">
                <a:latin typeface="+mn-lt"/>
              </a:rPr>
            </a:br>
            <a:r>
              <a:rPr lang="en-US" sz="2700" b="0" dirty="0">
                <a:latin typeface="+mn-lt"/>
              </a:rPr>
              <a:t>• The attack occurred after she rejected a marriage proposal.</a:t>
            </a:r>
            <a:br>
              <a:rPr lang="en-US" sz="2700" b="0" dirty="0">
                <a:latin typeface="+mn-lt"/>
              </a:rPr>
            </a:br>
            <a:br>
              <a:rPr lang="en-US" sz="2700" b="0" dirty="0">
                <a:latin typeface="+mn-lt"/>
              </a:rPr>
            </a:br>
            <a:r>
              <a:rPr lang="en-US" sz="2700" b="0" dirty="0">
                <a:latin typeface="+mn-lt"/>
              </a:rPr>
              <a:t>• She suffered severe facial disfigurement.</a:t>
            </a:r>
            <a:br>
              <a:rPr lang="en-US" sz="2700" b="0" dirty="0">
                <a:latin typeface="+mn-lt"/>
              </a:rPr>
            </a:br>
            <a:br>
              <a:rPr lang="en-US" sz="2700" b="0" dirty="0">
                <a:latin typeface="+mn-lt"/>
              </a:rPr>
            </a:br>
            <a:r>
              <a:rPr lang="en-US" sz="2700" b="0" dirty="0">
                <a:latin typeface="+mn-lt"/>
              </a:rPr>
              <a:t>• Underwent multiple surgeries and long-term treatment.</a:t>
            </a:r>
            <a:br>
              <a:rPr lang="en-US" sz="2700" b="0" dirty="0">
                <a:latin typeface="+mn-lt"/>
              </a:rPr>
            </a:br>
            <a:br>
              <a:rPr lang="en-US" sz="2700" b="0" dirty="0">
                <a:latin typeface="+mn-lt"/>
              </a:rPr>
            </a:br>
            <a:r>
              <a:rPr lang="en-US" sz="2700" b="0" dirty="0">
                <a:latin typeface="+mn-lt"/>
              </a:rPr>
              <a:t>• The attack exposed easy access to acid in markets.</a:t>
            </a:r>
            <a:br>
              <a:rPr lang="en-US" sz="2700" b="0" dirty="0">
                <a:latin typeface="+mn-lt"/>
              </a:rPr>
            </a:br>
            <a:br>
              <a:rPr lang="en-US" sz="2700" b="0" dirty="0">
                <a:latin typeface="+mn-lt"/>
              </a:rPr>
            </a:br>
            <a:r>
              <a:rPr lang="en-US" sz="2700" b="0" dirty="0">
                <a:latin typeface="+mn-lt"/>
              </a:rPr>
              <a:t>• Reflected deep-rooted gender discrimination.</a:t>
            </a:r>
            <a:br>
              <a:rPr lang="en-US" sz="2700" b="0" dirty="0">
                <a:latin typeface="+mn-lt"/>
              </a:rPr>
            </a:br>
            <a:br>
              <a:rPr lang="en-US" sz="2700" b="0" dirty="0">
                <a:latin typeface="+mn-lt"/>
              </a:rPr>
            </a:br>
            <a:r>
              <a:rPr lang="en-US" sz="2700" b="0" dirty="0">
                <a:latin typeface="+mn-lt"/>
              </a:rPr>
              <a:t>• The incident shocked civil society.</a:t>
            </a:r>
            <a:br>
              <a:rPr lang="en-US" sz="2700" b="0" dirty="0">
                <a:latin typeface="+mn-lt"/>
              </a:rPr>
            </a:br>
            <a:br>
              <a:rPr lang="en-US" sz="2700" b="0" dirty="0">
                <a:latin typeface="+mn-lt"/>
              </a:rPr>
            </a:br>
            <a:r>
              <a:rPr lang="en-US" sz="2700" b="0" dirty="0">
                <a:latin typeface="+mn-lt"/>
              </a:rPr>
              <a:t>• Laxmi later became an activist against acid violence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371" y="512358"/>
            <a:ext cx="11214100" cy="535531"/>
          </a:xfrm>
        </p:spPr>
        <p:txBody>
          <a:bodyPr/>
          <a:lstStyle/>
          <a:p>
            <a:r>
              <a:rPr lang="en-US" dirty="0"/>
              <a:t>FILING OF THE PUBLIC INTEREST LITIGATION (PIL)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0D7FD5-7B1E-6167-D612-58F6DEF9B3D8}"/>
              </a:ext>
            </a:extLst>
          </p:cNvPr>
          <p:cNvSpPr txBox="1"/>
          <p:nvPr/>
        </p:nvSpPr>
        <p:spPr>
          <a:xfrm>
            <a:off x="201706" y="1225689"/>
            <a:ext cx="1105049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•</a:t>
            </a:r>
            <a:r>
              <a:rPr lang="en-US" dirty="0"/>
              <a:t> </a:t>
            </a:r>
            <a:r>
              <a:rPr lang="en-US" sz="2200" dirty="0">
                <a:solidFill>
                  <a:schemeClr val="bg1"/>
                </a:solidFill>
              </a:rPr>
              <a:t>Laxmi filed a PIL under Article 32 of the Constitution.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The petition was filed directly before the Supreme Court.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Sought strict regulation on acid sale.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Demanded stronger punishment for offenders.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Requested compensation and rehabilitation mechanisms.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Highlighted violation of fundamental rights.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Emphasized state responsibility in preventing such crimes.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The case gained nationwide attention.</a:t>
            </a:r>
            <a:endParaRPr lang="en-IN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CONSTITUTIONAL PROVISIONS INVOLVED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269689" y="1693209"/>
            <a:ext cx="10982511" cy="4621866"/>
          </a:xfrm>
        </p:spPr>
        <p:txBody>
          <a:bodyPr>
            <a:normAutofit fontScale="85000" lnSpcReduction="20000"/>
          </a:bodyPr>
          <a:lstStyle/>
          <a:p>
            <a:r>
              <a:rPr lang="en-US" sz="2600" dirty="0"/>
              <a:t>Article 14 – Equality before law.</a:t>
            </a:r>
          </a:p>
          <a:p>
            <a:pPr marL="0" indent="0">
              <a:buNone/>
            </a:pPr>
            <a:br>
              <a:rPr lang="en-US" sz="2600" dirty="0"/>
            </a:br>
            <a:r>
              <a:rPr lang="en-US" sz="2600" dirty="0"/>
              <a:t>• Article 15(3) – Special provisions for women and children.</a:t>
            </a:r>
          </a:p>
          <a:p>
            <a:pPr marL="0" indent="0">
              <a:buNone/>
            </a:pPr>
            <a:br>
              <a:rPr lang="en-US" sz="2600" dirty="0"/>
            </a:br>
            <a:r>
              <a:rPr lang="en-US" sz="2600" dirty="0"/>
              <a:t>• Article 21 – Right to life and personal liberty.</a:t>
            </a:r>
          </a:p>
          <a:p>
            <a:pPr marL="0" indent="0">
              <a:buNone/>
            </a:pPr>
            <a:br>
              <a:rPr lang="en-US" sz="2600" dirty="0"/>
            </a:br>
            <a:r>
              <a:rPr lang="en-US" sz="2600" dirty="0"/>
              <a:t>• Court expanded Article 21 to include right to dignity.</a:t>
            </a:r>
          </a:p>
          <a:p>
            <a:pPr marL="0" indent="0">
              <a:buNone/>
            </a:pPr>
            <a:br>
              <a:rPr lang="en-US" sz="2600" dirty="0"/>
            </a:br>
            <a:r>
              <a:rPr lang="en-US" sz="2600" dirty="0"/>
              <a:t>• Acid attack seen as violation of basic human rights.</a:t>
            </a:r>
          </a:p>
          <a:p>
            <a:pPr marL="0" indent="0">
              <a:buNone/>
            </a:pPr>
            <a:br>
              <a:rPr lang="en-US" sz="2600" dirty="0"/>
            </a:br>
            <a:r>
              <a:rPr lang="en-US" sz="2600" dirty="0"/>
              <a:t>• State obligated to protect citizens’ fundamental rights.</a:t>
            </a:r>
          </a:p>
          <a:p>
            <a:pPr marL="0" indent="0">
              <a:buNone/>
            </a:pPr>
            <a:br>
              <a:rPr lang="en-US" sz="2600" dirty="0"/>
            </a:br>
            <a:r>
              <a:rPr lang="en-US" sz="2600" dirty="0"/>
              <a:t>• Failure to regulate acid sale seen as negligence.</a:t>
            </a:r>
          </a:p>
          <a:p>
            <a:pPr marL="0" indent="0">
              <a:buNone/>
            </a:pPr>
            <a:br>
              <a:rPr lang="en-US" sz="2600" dirty="0"/>
            </a:br>
            <a:r>
              <a:rPr lang="en-US" sz="2600" dirty="0"/>
              <a:t>• Strengthened gender justice interpretation of Constitution.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SUPREME COURT DIRECTIONS (2013)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EB820E-37B5-FDF6-EF17-9E1C40DDC1CB}"/>
              </a:ext>
            </a:extLst>
          </p:cNvPr>
          <p:cNvSpPr txBox="1"/>
          <p:nvPr/>
        </p:nvSpPr>
        <p:spPr>
          <a:xfrm>
            <a:off x="444500" y="1326991"/>
            <a:ext cx="10596283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•</a:t>
            </a:r>
            <a:r>
              <a:rPr lang="en-US" sz="2200" dirty="0">
                <a:solidFill>
                  <a:schemeClr val="bg1"/>
                </a:solidFill>
              </a:rPr>
              <a:t>Strict regulation of acid sale across India.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Mandatory ID proof for acid purchase.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Sellers must maintain transaction records.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Acid sale to minors completely banned.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States directed to monitor compliance.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Free medical treatment for victims mandated.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Minimum ₹3 lakh compensation ordered.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Directions binding on all states and UTs.</a:t>
            </a:r>
            <a:endParaRPr lang="en-IN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CRIMINAL LAW (AMENDMENT) ACT, 2013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C2D367-2A6E-41FE-A9EA-24FF17BC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659320-D9F2-FC7A-2551-B2580C9466E2}"/>
              </a:ext>
            </a:extLst>
          </p:cNvPr>
          <p:cNvSpPr txBox="1"/>
          <p:nvPr/>
        </p:nvSpPr>
        <p:spPr>
          <a:xfrm>
            <a:off x="444500" y="1321060"/>
            <a:ext cx="956085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chemeClr val="bg1"/>
                </a:solidFill>
              </a:rPr>
              <a:t> </a:t>
            </a:r>
            <a:r>
              <a:rPr lang="en-IN" sz="2400" dirty="0">
                <a:solidFill>
                  <a:schemeClr val="bg1"/>
                </a:solidFill>
              </a:rPr>
              <a:t>• </a:t>
            </a:r>
            <a:r>
              <a:rPr lang="en-IN" sz="2200" dirty="0">
                <a:solidFill>
                  <a:schemeClr val="bg1"/>
                </a:solidFill>
              </a:rPr>
              <a:t>Acid attack recognized as a separate offense.</a:t>
            </a:r>
          </a:p>
          <a:p>
            <a:br>
              <a:rPr lang="en-IN" sz="2200" dirty="0">
                <a:solidFill>
                  <a:schemeClr val="bg1"/>
                </a:solidFill>
              </a:rPr>
            </a:br>
            <a:r>
              <a:rPr lang="en-IN" sz="2200" dirty="0">
                <a:solidFill>
                  <a:schemeClr val="bg1"/>
                </a:solidFill>
              </a:rPr>
              <a:t>• Section 326A – Causing grievous hurt by acid.</a:t>
            </a:r>
          </a:p>
          <a:p>
            <a:br>
              <a:rPr lang="en-IN" sz="2200" dirty="0">
                <a:solidFill>
                  <a:schemeClr val="bg1"/>
                </a:solidFill>
              </a:rPr>
            </a:br>
            <a:r>
              <a:rPr lang="en-IN" sz="2200" dirty="0">
                <a:solidFill>
                  <a:schemeClr val="bg1"/>
                </a:solidFill>
              </a:rPr>
              <a:t>• Section 326B – Attempt to throw acid.</a:t>
            </a:r>
          </a:p>
          <a:p>
            <a:br>
              <a:rPr lang="en-IN" sz="2200" dirty="0">
                <a:solidFill>
                  <a:schemeClr val="bg1"/>
                </a:solidFill>
              </a:rPr>
            </a:br>
            <a:r>
              <a:rPr lang="en-IN" sz="2200" dirty="0">
                <a:solidFill>
                  <a:schemeClr val="bg1"/>
                </a:solidFill>
              </a:rPr>
              <a:t>• Minimum punishment: 10 years imprisonment.</a:t>
            </a:r>
          </a:p>
          <a:p>
            <a:br>
              <a:rPr lang="en-IN" sz="2200" dirty="0">
                <a:solidFill>
                  <a:schemeClr val="bg1"/>
                </a:solidFill>
              </a:rPr>
            </a:br>
            <a:r>
              <a:rPr lang="en-IN" sz="2200" dirty="0">
                <a:solidFill>
                  <a:schemeClr val="bg1"/>
                </a:solidFill>
              </a:rPr>
              <a:t>• Maximum punishment: Life imprisonment.</a:t>
            </a:r>
          </a:p>
          <a:p>
            <a:br>
              <a:rPr lang="en-IN" sz="2200" dirty="0">
                <a:solidFill>
                  <a:schemeClr val="bg1"/>
                </a:solidFill>
              </a:rPr>
            </a:br>
            <a:r>
              <a:rPr lang="en-IN" sz="2200" dirty="0">
                <a:solidFill>
                  <a:schemeClr val="bg1"/>
                </a:solidFill>
              </a:rPr>
              <a:t>• Fine must cover victim’s medical expenses.</a:t>
            </a:r>
          </a:p>
          <a:p>
            <a:br>
              <a:rPr lang="en-IN" sz="2200" dirty="0">
                <a:solidFill>
                  <a:schemeClr val="bg1"/>
                </a:solidFill>
              </a:rPr>
            </a:br>
            <a:r>
              <a:rPr lang="en-IN" sz="2200" dirty="0">
                <a:solidFill>
                  <a:schemeClr val="bg1"/>
                </a:solidFill>
              </a:rPr>
              <a:t>• Closed earlier legal gaps in prosecution.</a:t>
            </a:r>
          </a:p>
          <a:p>
            <a:br>
              <a:rPr lang="en-IN" sz="2200" dirty="0">
                <a:solidFill>
                  <a:schemeClr val="bg1"/>
                </a:solidFill>
              </a:rPr>
            </a:br>
            <a:r>
              <a:rPr lang="en-IN" sz="2200" dirty="0">
                <a:solidFill>
                  <a:schemeClr val="bg1"/>
                </a:solidFill>
              </a:rPr>
              <a:t>• Marked major reform in criminal jurisprudence.</a:t>
            </a:r>
          </a:p>
          <a:p>
            <a:endParaRPr lang="en-IN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10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AMENDMENTD IN CRIMINAL PROCEDURE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8B00B9-264F-ABDA-1471-4A0932147B53}"/>
              </a:ext>
            </a:extLst>
          </p:cNvPr>
          <p:cNvSpPr txBox="1"/>
          <p:nvPr/>
        </p:nvSpPr>
        <p:spPr>
          <a:xfrm>
            <a:off x="322729" y="1353885"/>
            <a:ext cx="859267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• Speedy investigation and trial emphasized.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Victim-friendly legal procedures introduced.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Statements recorded with sensitivity.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State responsible for compensation schemes.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Standardized medical examination protocols.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Access to free legal aid ensured.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Police accountability strengthened.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Reduced secondary victimization of survivors.</a:t>
            </a:r>
            <a:endParaRPr lang="en-IN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542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THE JUDGEMENT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3A4D0A-83EF-72EE-AA8E-CC316A2F356C}"/>
              </a:ext>
            </a:extLst>
          </p:cNvPr>
          <p:cNvSpPr txBox="1"/>
          <p:nvPr/>
        </p:nvSpPr>
        <p:spPr>
          <a:xfrm>
            <a:off x="309281" y="1509554"/>
            <a:ext cx="1038112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• Recognized acid violence as a distinct heinous crime.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Strengthened women’s fundamental rights protection.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Expanded interpretation of Article 21.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Increased state accountability.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Ensured victim rehabilitation measures.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Set precedent for future gender justice cases.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Encouraged public awareness and activism.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Landmark in constitutional law development.</a:t>
            </a:r>
            <a:endParaRPr lang="en-IN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0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347" y="373290"/>
            <a:ext cx="7907088" cy="1243584"/>
          </a:xfrm>
        </p:spPr>
        <p:txBody>
          <a:bodyPr/>
          <a:lstStyle/>
          <a:p>
            <a:r>
              <a:rPr lang="en-GB" sz="3200" dirty="0"/>
              <a:t>SOCIAL AND LEGAL IMPACT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C9CF49-9F73-30B1-AC5F-52F007031D3F}"/>
              </a:ext>
            </a:extLst>
          </p:cNvPr>
          <p:cNvSpPr txBox="1"/>
          <p:nvPr/>
        </p:nvSpPr>
        <p:spPr>
          <a:xfrm>
            <a:off x="430305" y="1589980"/>
            <a:ext cx="10300447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• Greater awareness about acid attack crimes.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Improved clarity in legal provisions.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Stricter control on acid sale.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Empowered survivors through compensation.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NGOs actively supported victims.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Media highlighted women’s safety issues.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Implementation challenges still remain.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Need for continuous monitoring and reform</a:t>
            </a:r>
            <a:endParaRPr lang="en-IN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89380"/>
            <a:ext cx="9181205" cy="1243584"/>
          </a:xfrm>
        </p:spPr>
        <p:txBody>
          <a:bodyPr/>
          <a:lstStyle/>
          <a:p>
            <a:r>
              <a:rPr lang="en-GB" sz="3200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D2B206-C075-1CD3-771B-306293C70A62}"/>
              </a:ext>
            </a:extLst>
          </p:cNvPr>
          <p:cNvSpPr txBox="1"/>
          <p:nvPr/>
        </p:nvSpPr>
        <p:spPr>
          <a:xfrm>
            <a:off x="265805" y="1532964"/>
            <a:ext cx="10922148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• The case transformed India’s approach to acid violence.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Strengthened Articles 14 and 21 protections.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Recognized dignity as core to right to life.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Led to statutory amendments in 2013.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Established state responsibility for rehabilitation.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Demonstrated judiciary’s proactive role.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Improved gender-sensitive legal framework.</a:t>
            </a:r>
          </a:p>
          <a:p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• Remains a milestone in women’s rights jurisprudence</a:t>
            </a:r>
            <a:endParaRPr lang="en-IN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Customize this Template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90B5C6-1CB0-445E-99D1-8E2FE8C5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54A61-D199-469B-AB0C-B68F82B505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Template Editing Instructions and Feedback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55</TotalTime>
  <Words>862</Words>
  <Application>Microsoft Office PowerPoint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Trade Gothic LT Pro</vt:lpstr>
      <vt:lpstr>Trebuchet MS</vt:lpstr>
      <vt:lpstr>Office Theme</vt:lpstr>
      <vt:lpstr>Constituitional reforms – The Laxmi Acid Attack</vt:lpstr>
      <vt:lpstr> INTRODUCTION:   • Acid attacks are one of the most violent forms of gender-based crimes.  • They cause permanent physical, emotional, and psychological trauma.  • Before 2013, there was no separate law specifically for acid attacks.  • Victims struggled to receive proper compensation and justice.  • Easy availability of acid increased such crimes.  • Legal loopholes weakened prosecution efforts.  • Public outrage demanded stricter legal reforms.  • This case became a turning point in Indian criminal law. </vt:lpstr>
      <vt:lpstr>BACKGROUND OF THE INCIDENT:  • In 2005, Laxmi, aged 15, was attacked with acid in Delhi.  • The attack occurred after she rejected a marriage proposal.  • She suffered severe facial disfigurement.  • Underwent multiple surgeries and long-term treatment.  • The attack exposed easy access to acid in markets.  • Reflected deep-rooted gender discrimination.  • The incident shocked civil society.  • Laxmi later became an activist against acid violence </vt:lpstr>
      <vt:lpstr>FILING OF THE PUBLIC INTEREST LITIGATION (PIL)</vt:lpstr>
      <vt:lpstr>CONSTITUTIONAL PROVISIONS INVOLVED</vt:lpstr>
      <vt:lpstr>SUPREME COURT DIRECTIONS (2013)</vt:lpstr>
      <vt:lpstr>CRIMINAL LAW (AMENDMENT) ACT, 2013</vt:lpstr>
      <vt:lpstr>AMENDMENTD IN CRIMINAL PROCEDURE</vt:lpstr>
      <vt:lpstr>IMPORTANCE OF THE JUDGEMENT</vt:lpstr>
      <vt:lpstr>SOCIAL AND LEGAL IMPACT</vt:lpstr>
      <vt:lpstr>CONCLUSION</vt:lpstr>
      <vt:lpstr>Customize this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 Gopal</dc:creator>
  <cp:lastModifiedBy>Harshi Gopal</cp:lastModifiedBy>
  <cp:revision>2</cp:revision>
  <dcterms:created xsi:type="dcterms:W3CDTF">2026-02-19T04:56:10Z</dcterms:created>
  <dcterms:modified xsi:type="dcterms:W3CDTF">2026-02-19T05:51:27Z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